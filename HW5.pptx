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EB Garamond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58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575" b="1">
                <a:solidFill>
                  <a:srgbClr val="2D404D"/>
                </a:solidFill>
                <a:latin typeface="EB Garamond"/>
              </a:rPr>
              <a:t>Korišćenje silicijuma po komponentama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Procenat površine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D404D"/>
              </a:solidFill>
            </c:spPr>
            <c:extLst>
              <c:ext xmlns:c16="http://schemas.microsoft.com/office/drawing/2014/chart" uri="{C3380CC4-5D6E-409C-BE32-E72D297353CC}">
                <c16:uniqueId val="{00000001-38FC-4BCA-AF71-843A27B9EAA0}"/>
              </c:ext>
            </c:extLst>
          </c:dPt>
          <c:dPt>
            <c:idx val="1"/>
            <c:invertIfNegative val="1"/>
            <c:bubble3D val="0"/>
            <c:spPr>
              <a:solidFill>
                <a:srgbClr val="3F657F"/>
              </a:solidFill>
            </c:spPr>
            <c:extLst>
              <c:ext xmlns:c16="http://schemas.microsoft.com/office/drawing/2014/chart" uri="{C3380CC4-5D6E-409C-BE32-E72D297353CC}">
                <c16:uniqueId val="{00000003-38FC-4BCA-AF71-843A27B9EAA0}"/>
              </c:ext>
            </c:extLst>
          </c:dPt>
          <c:dPt>
            <c:idx val="2"/>
            <c:invertIfNegative val="1"/>
            <c:bubble3D val="0"/>
            <c:spPr>
              <a:solidFill>
                <a:srgbClr val="B589A8"/>
              </a:solidFill>
            </c:spPr>
            <c:extLst>
              <c:ext xmlns:c16="http://schemas.microsoft.com/office/drawing/2014/chart" uri="{C3380CC4-5D6E-409C-BE32-E72D297353CC}">
                <c16:uniqueId val="{00000005-38FC-4BCA-AF71-843A27B9EAA0}"/>
              </c:ext>
            </c:extLst>
          </c:dPt>
          <c:dPt>
            <c:idx val="3"/>
            <c:invertIfNegative val="1"/>
            <c:bubble3D val="0"/>
            <c:spPr>
              <a:solidFill>
                <a:srgbClr val="6B8FA3"/>
              </a:solidFill>
            </c:spPr>
            <c:extLst>
              <c:ext xmlns:c16="http://schemas.microsoft.com/office/drawing/2014/chart" uri="{C3380CC4-5D6E-409C-BE32-E72D297353CC}">
                <c16:uniqueId val="{00000007-38FC-4BCA-AF71-843A27B9EAA0}"/>
              </c:ext>
            </c:extLst>
          </c:dPt>
          <c:dPt>
            <c:idx val="4"/>
            <c:invertIfNegative val="1"/>
            <c:bubble3D val="0"/>
            <c:spPr>
              <a:solidFill>
                <a:srgbClr val="8E7BA8"/>
              </a:solidFill>
            </c:spPr>
            <c:extLst>
              <c:ext xmlns:c16="http://schemas.microsoft.com/office/drawing/2014/chart" uri="{C3380CC4-5D6E-409C-BE32-E72D297353CC}">
                <c16:uniqueId val="{00000009-38FC-4BCA-AF71-843A27B9EAA0}"/>
              </c:ext>
            </c:extLst>
          </c:dPt>
          <c:cat>
            <c:strRef>
              <c:f>Sheet1!$A$2:$A$6</c:f>
              <c:strCache>
                <c:ptCount val="5"/>
                <c:pt idx="0">
                  <c:v>Branch Prediction</c:v>
                </c:pt>
                <c:pt idx="1">
                  <c:v>Instruction Decode</c:v>
                </c:pt>
                <c:pt idx="2">
                  <c:v>Reordering</c:v>
                </c:pt>
                <c:pt idx="3">
                  <c:v>ALU Pipeline</c:v>
                </c:pt>
                <c:pt idx="4">
                  <c:v>Cache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12</c:v>
                </c:pt>
                <c:pt idx="2">
                  <c:v>18</c:v>
                </c:pt>
                <c:pt idx="3">
                  <c:v>25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8FC-4BCA-AF71-843A27B9E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>
                    <a:solidFill>
                      <a:srgbClr val="2D404D"/>
                    </a:solidFill>
                    <a:latin typeface="EB Garamond"/>
                  </a:rPr>
                  <a:t>Komponenta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050">
                <a:solidFill>
                  <a:srgbClr val="2D404D"/>
                </a:solidFill>
                <a:latin typeface="EB Garamond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"/>
          <c:min val="0"/>
        </c:scaling>
        <c:delete val="0"/>
        <c:axPos val="l"/>
        <c:majorGridlines>
          <c:spPr>
            <a:ln w="9525">
              <a:solidFill>
                <a:srgbClr val="E2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2D404D"/>
                    </a:solidFill>
                    <a:latin typeface="EB Garamond"/>
                  </a:rPr>
                  <a:t>Procenat površine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200">
                <a:solidFill>
                  <a:srgbClr val="2D404D"/>
                </a:solidFill>
                <a:latin typeface="EB Garamond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725" b="1">
                <a:solidFill>
                  <a:srgbClr val="2D404D"/>
                </a:solidFill>
                <a:latin typeface="EB Garamond"/>
              </a:rPr>
              <a:t>Relativno ubrzanje po platformi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Ubrzanje (x)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D404D"/>
              </a:solidFill>
            </c:spPr>
            <c:extLst>
              <c:ext xmlns:c16="http://schemas.microsoft.com/office/drawing/2014/chart" uri="{C3380CC4-5D6E-409C-BE32-E72D297353CC}">
                <c16:uniqueId val="{00000001-4AB6-414A-875C-E2403BA2DECF}"/>
              </c:ext>
            </c:extLst>
          </c:dPt>
          <c:dPt>
            <c:idx val="1"/>
            <c:invertIfNegative val="1"/>
            <c:bubble3D val="0"/>
            <c:spPr>
              <a:solidFill>
                <a:srgbClr val="3F657F"/>
              </a:solidFill>
            </c:spPr>
            <c:extLst>
              <c:ext xmlns:c16="http://schemas.microsoft.com/office/drawing/2014/chart" uri="{C3380CC4-5D6E-409C-BE32-E72D297353CC}">
                <c16:uniqueId val="{00000003-4AB6-414A-875C-E2403BA2DECF}"/>
              </c:ext>
            </c:extLst>
          </c:dPt>
          <c:dPt>
            <c:idx val="2"/>
            <c:invertIfNegative val="1"/>
            <c:bubble3D val="0"/>
            <c:spPr>
              <a:solidFill>
                <a:srgbClr val="B589A8"/>
              </a:solidFill>
            </c:spPr>
            <c:extLst>
              <c:ext xmlns:c16="http://schemas.microsoft.com/office/drawing/2014/chart" uri="{C3380CC4-5D6E-409C-BE32-E72D297353CC}">
                <c16:uniqueId val="{00000005-4AB6-414A-875C-E2403BA2DECF}"/>
              </c:ext>
            </c:extLst>
          </c:dPt>
          <c:dPt>
            <c:idx val="3"/>
            <c:invertIfNegative val="1"/>
            <c:bubble3D val="0"/>
            <c:spPr>
              <a:solidFill>
                <a:srgbClr val="6B8FA3"/>
              </a:solidFill>
            </c:spPr>
            <c:extLst>
              <c:ext xmlns:c16="http://schemas.microsoft.com/office/drawing/2014/chart" uri="{C3380CC4-5D6E-409C-BE32-E72D297353CC}">
                <c16:uniqueId val="{00000007-4AB6-414A-875C-E2403BA2DECF}"/>
              </c:ext>
            </c:extLst>
          </c:dPt>
          <c:cat>
            <c:strRef>
              <c:f>Sheet1!$A$2:$A$5</c:f>
              <c:strCache>
                <c:ptCount val="4"/>
                <c:pt idx="0">
                  <c:v>CPU sekvencijalni</c:v>
                </c:pt>
                <c:pt idx="1">
                  <c:v>CPU paralelni</c:v>
                </c:pt>
                <c:pt idx="2">
                  <c:v>GPU CUDA</c:v>
                </c:pt>
                <c:pt idx="3">
                  <c:v>FPGA Maxeler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25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B6-414A-875C-E2403BA2D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350">
                    <a:solidFill>
                      <a:srgbClr val="2D404D"/>
                    </a:solidFill>
                    <a:latin typeface="EB Garamond"/>
                  </a:rPr>
                  <a:t>Platforma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100">
                <a:solidFill>
                  <a:srgbClr val="070B0D"/>
                </a:solidFill>
                <a:latin typeface="EB Garamond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0"/>
        </c:scaling>
        <c:delete val="0"/>
        <c:axPos val="l"/>
        <c:majorGridlines>
          <c:spPr>
            <a:ln w="9525">
              <a:solidFill>
                <a:srgbClr val="E2E9E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350">
                    <a:solidFill>
                      <a:srgbClr val="2D404D"/>
                    </a:solidFill>
                    <a:latin typeface="EB Garamond"/>
                  </a:rPr>
                  <a:t>Ubrzanje (x)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1100">
                <a:solidFill>
                  <a:srgbClr val="070B0D"/>
                </a:solidFill>
                <a:latin typeface="EB Garamond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nvidia.com/gpugems/gpugems3/part-vi-gpu-computing/chapter-39-parallel-prefix-sum-scan-cuda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s.princeton.edu/courses/archive/fall20/cos326/lec/21-02-parallel-prefix-scan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arnesscloud.github.io/2015-07-15-feltham/maxeler/CodeCarpentry-MaxelerDataflow1.pdf" TargetMode="External"/><Relationship Id="rId2" Type="http://schemas.openxmlformats.org/officeDocument/2006/relationships/hyperlink" Target="https://etfbgacrs-my.sharepoint.com/personal/cm220043d_student_etf_bg_ac_rs/Documents/Microsoft%20Copilot%20Chat%20Files/05_data_flow_execution_model_maxeler_technology.pdf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texas.edu/~pingali/CS377P/2022fa/lectures/parallelPrefix.pdf" TargetMode="External"/><Relationship Id="rId2" Type="http://schemas.openxmlformats.org/officeDocument/2006/relationships/hyperlink" Target="https://www.cs.princeton.edu/courses/archive/fall20/cos326/lec/21-02-parallel-prefix-scan.pdf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princeton.edu/courses/archive/fall20/cos326/lec/21-02-parallel-prefix-scan.pdf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veloper.nvidia.com/gpugems/gpugems3/part-vi-gpu-computing/chapter-39-parallel-prefix-sum-scan-cud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hyperlink" Target="https://etfbgacrs-my.sharepoint.com/personal/cm220043d_student_etf_bg_ac_rs/Documents/Microsoft%20Copilot%20Chat%20Files/05_data_flow_execution_model_maxeler_technology.pdf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tfbgacrs-my.sharepoint.com/personal/cm220043d_student_etf_bg_ac_rs/Documents/Microsoft%20Copilot%20Chat%20Files/05_data_flow_execution_model_maxeler_technology.pdf" TargetMode="Externa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https://harnesscloud.github.io/2015-07-15-feltham/maxeler/CodeCarpentry-MaxelerDataflow1.pdf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tfbgacrs-my.sharepoint.com/personal/cm220043d_student_etf_bg_ac_rs/Documents/Microsoft%20Copilot%20Chat%20Files/05_data_flow_execution_model_maxeler_technology.pdf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tfbgacrs-my.sharepoint.com/personal/cm220043d_student_etf_bg_ac_rs/Documents/Microsoft%20Copilot%20Chat%20Files/05_data_flow_execution_model_maxeler_technology.pdf" TargetMode="External"/><Relationship Id="rId2" Type="http://schemas.openxmlformats.org/officeDocument/2006/relationships/hyperlink" Target="https://harnesscloud.github.io/2015-07-15-feltham/maxeler/CodeCarpentry-MaxelerDataflow1.pdf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veloper.nvidia.com/gpugems/gpugems3/part-vi-gpu-computing/chapter-39-parallel-prefix-sum-scan-cu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6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6413" y="949946"/>
            <a:ext cx="10118719" cy="3353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699" b="1" i="0">
                <a:solidFill>
                  <a:srgbClr val="2D404D"/>
                </a:solidFill>
                <a:latin typeface="EB Garamond"/>
              </a:rPr>
              <a:t>Optimizacija Prefix Scan algoritma pomoću Maxeler tehnologije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99318" y="4513546"/>
            <a:ext cx="4993058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1" b="0" i="0">
                <a:solidFill>
                  <a:srgbClr val="2D404D"/>
                </a:solidFill>
                <a:latin typeface="EB Garamond"/>
              </a:rPr>
              <a:t>Data Flow paradigma za paralelnu obradu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64931" cy="6858000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639663"/>
            <a:ext cx="4707731" cy="1028997"/>
          </a:xfrm>
          <a:prstGeom prst="roundRect">
            <a:avLst>
              <a:gd name="adj" fmla="val 1481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8059" y="1779046"/>
            <a:ext cx="228683" cy="2666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2156221"/>
            <a:ext cx="4707731" cy="1028997"/>
          </a:xfrm>
          <a:prstGeom prst="roundRect">
            <a:avLst>
              <a:gd name="adj" fmla="val 1481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8059" y="3295567"/>
            <a:ext cx="228683" cy="2666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28600" y="3672780"/>
            <a:ext cx="4707731" cy="1028997"/>
          </a:xfrm>
          <a:prstGeom prst="roundRect">
            <a:avLst>
              <a:gd name="adj" fmla="val 1481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8059" y="4812088"/>
            <a:ext cx="228683" cy="26667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28600" y="5189339"/>
            <a:ext cx="4707731" cy="1028997"/>
          </a:xfrm>
          <a:prstGeom prst="roundRect">
            <a:avLst>
              <a:gd name="adj" fmla="val 1481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679" y="792043"/>
            <a:ext cx="523266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85" b="1" i="0">
                <a:solidFill>
                  <a:srgbClr val="2D404D"/>
                </a:solidFill>
                <a:latin typeface="EB Garamond"/>
              </a:rPr>
              <a:t>Ulaz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679" y="1209198"/>
            <a:ext cx="3106858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4" b="0" i="0">
                <a:solidFill>
                  <a:srgbClr val="3F657F"/>
                </a:solidFill>
                <a:latin typeface="EB Garamond"/>
              </a:rPr>
              <a:t>Niz elemenata [3, 1, 7, 0, 4, 1, 6,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679" y="2308564"/>
            <a:ext cx="1124814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85" b="1" i="0">
                <a:solidFill>
                  <a:srgbClr val="2D404D"/>
                </a:solidFill>
                <a:latin typeface="EB Garamond"/>
              </a:rPr>
              <a:t>Operacija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679" y="2725718"/>
            <a:ext cx="4311442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4" b="0" i="0" dirty="0" err="1">
                <a:solidFill>
                  <a:srgbClr val="3F657F"/>
                </a:solidFill>
                <a:latin typeface="EB Garamond"/>
              </a:rPr>
              <a:t>Primena</a:t>
            </a:r>
            <a:r>
              <a:rPr sz="1654" b="0" i="0" dirty="0">
                <a:solidFill>
                  <a:srgbClr val="3F657F"/>
                </a:solidFill>
                <a:latin typeface="EB Garamond"/>
              </a:rPr>
              <a:t> </a:t>
            </a:r>
            <a:r>
              <a:rPr sz="1654" b="0" i="0" dirty="0" err="1">
                <a:solidFill>
                  <a:srgbClr val="3F657F"/>
                </a:solidFill>
                <a:latin typeface="EB Garamond"/>
              </a:rPr>
              <a:t>asocijativnog</a:t>
            </a:r>
            <a:r>
              <a:rPr sz="1654" b="0" i="0" dirty="0">
                <a:solidFill>
                  <a:srgbClr val="3F657F"/>
                </a:solidFill>
                <a:latin typeface="EB Garamond"/>
              </a:rPr>
              <a:t> </a:t>
            </a:r>
            <a:r>
              <a:rPr sz="1654" b="0" i="0" dirty="0" err="1">
                <a:solidFill>
                  <a:srgbClr val="3F657F"/>
                </a:solidFill>
                <a:latin typeface="EB Garamond"/>
              </a:rPr>
              <a:t>operatora</a:t>
            </a:r>
            <a:r>
              <a:rPr sz="1654" b="0" i="0" dirty="0">
                <a:solidFill>
                  <a:srgbClr val="3F657F"/>
                </a:solidFill>
                <a:latin typeface="EB Garamond"/>
              </a:rPr>
              <a:t> (</a:t>
            </a:r>
            <a:r>
              <a:rPr sz="1654" b="0" i="0" dirty="0" err="1">
                <a:solidFill>
                  <a:srgbClr val="3F657F"/>
                </a:solidFill>
                <a:latin typeface="EB Garamond"/>
              </a:rPr>
              <a:t>npr</a:t>
            </a:r>
            <a:r>
              <a:rPr sz="1654" b="0" i="0" dirty="0">
                <a:solidFill>
                  <a:srgbClr val="3F657F"/>
                </a:solidFill>
                <a:latin typeface="EB Garamond"/>
              </a:rPr>
              <a:t>. </a:t>
            </a:r>
            <a:r>
              <a:rPr sz="1654" b="0" i="0" dirty="0" err="1">
                <a:solidFill>
                  <a:srgbClr val="3F657F"/>
                </a:solidFill>
                <a:latin typeface="EB Garamond"/>
              </a:rPr>
              <a:t>sabiranje</a:t>
            </a:r>
            <a:r>
              <a:rPr sz="1654" b="0" i="0" dirty="0">
                <a:solidFill>
                  <a:srgbClr val="3F657F"/>
                </a:solidFill>
                <a:latin typeface="EB Garamond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679" y="3825084"/>
            <a:ext cx="1814467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85" b="1" i="0">
                <a:solidFill>
                  <a:srgbClr val="2D404D"/>
                </a:solidFill>
                <a:latin typeface="EB Garamond"/>
              </a:rPr>
              <a:t>Izlaz (exclusive)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679" y="4242239"/>
            <a:ext cx="2341156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4" b="0" i="0">
                <a:solidFill>
                  <a:srgbClr val="3F657F"/>
                </a:solidFill>
                <a:latin typeface="EB Garamond"/>
              </a:rPr>
              <a:t>[0, 3, 4, 11, 11, 15, 16, 22]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679" y="5341605"/>
            <a:ext cx="1808514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85" b="1" i="0">
                <a:solidFill>
                  <a:srgbClr val="2D404D"/>
                </a:solidFill>
                <a:latin typeface="EB Garamond"/>
              </a:rPr>
              <a:t>Izlaz (inclusive)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679" y="5758760"/>
            <a:ext cx="2454560" cy="304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54" b="0" i="0">
                <a:solidFill>
                  <a:srgbClr val="3F657F"/>
                </a:solidFill>
                <a:latin typeface="EB Garamond"/>
              </a:rPr>
              <a:t>[3, 4, 11, 11, 15, 16, 22, 25]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594" y="345570"/>
            <a:ext cx="4013347" cy="6953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47" b="1" i="0">
                <a:solidFill>
                  <a:srgbClr val="127FBD"/>
                </a:solidFill>
                <a:latin typeface="EB Garamond"/>
              </a:rPr>
              <a:t>Šta je</a:t>
            </a:r>
            <a:r>
              <a:rPr sz="3947" b="1" i="0">
                <a:solidFill>
                  <a:srgbClr val="2D404D"/>
                </a:solidFill>
                <a:latin typeface="EB Garamond"/>
              </a:rPr>
              <a:t> Prefix Scan?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9594" y="1196845"/>
            <a:ext cx="6417308" cy="39401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6035" indent="-236035"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Uzima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binaran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asocijativni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operator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niz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od n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elemenata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vraća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niz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gde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je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svaki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element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suma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svih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prethodnih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endParaRPr sz="1280" b="0" i="0" dirty="0">
              <a:solidFill>
                <a:srgbClr val="003D66"/>
              </a:solidFill>
              <a:latin typeface="EB Garamond"/>
              <a:hlinkClick r:id="rId3" tooltip="Chapter 39. Parallel Prefix Sum (Scan) with CUDA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36035" indent="-236035" algn="l">
              <a:lnSpc>
                <a:spcPts val="3502"/>
              </a:lnSpc>
              <a:spcBef>
                <a:spcPts val="9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188" b="0" i="0" dirty="0">
                <a:solidFill>
                  <a:srgbClr val="070B0D"/>
                </a:solidFill>
                <a:latin typeface="EB Garamond"/>
              </a:rPr>
              <a:t>Exclusive scan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isključuje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trenutni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element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sume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dok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inclusive scan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uključuje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ga</a:t>
            </a:r>
          </a:p>
          <a:p>
            <a:pPr marL="236035" indent="-236035" algn="l">
              <a:lnSpc>
                <a:spcPts val="3502"/>
              </a:lnSpc>
              <a:spcBef>
                <a:spcPts val="9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Primene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sortiranju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leksičkoj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analizi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paralelnoj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konstrukciji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struktura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podataka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stream compaction</a:t>
            </a:r>
            <a:endParaRPr sz="1280" b="0" i="0" dirty="0">
              <a:solidFill>
                <a:srgbClr val="003D66"/>
              </a:solidFill>
              <a:latin typeface="EB Garamond"/>
              <a:hlinkClick r:id="rId3" tooltip="Chapter 39. Parallel Prefix Sum (Scan) with CUDA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36035" indent="-236035" algn="l">
              <a:lnSpc>
                <a:spcPts val="3502"/>
              </a:lnSpc>
              <a:spcBef>
                <a:spcPts val="9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Izgleda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sekvencijalan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ali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efikasan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paralelni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pristup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smanjuje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span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O(n) </a:t>
            </a:r>
            <a:r>
              <a:rPr sz="2188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188" b="0" i="0" dirty="0">
                <a:solidFill>
                  <a:srgbClr val="070B0D"/>
                </a:solidFill>
                <a:latin typeface="EB Garamond"/>
              </a:rPr>
              <a:t> O(log n) </a:t>
            </a:r>
            <a:endParaRPr sz="1280" b="0" i="0" dirty="0">
              <a:solidFill>
                <a:srgbClr val="003D66"/>
              </a:solidFill>
              <a:latin typeface="EB Garamond"/>
              <a:hlinkClick r:id="rId4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2369641"/>
            <a:ext cx="5638800" cy="1134963"/>
          </a:xfrm>
          <a:prstGeom prst="roundRect">
            <a:avLst>
              <a:gd name="adj" fmla="val 13427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156370"/>
            <a:ext cx="5638800" cy="1561653"/>
          </a:xfrm>
          <a:prstGeom prst="roundRect">
            <a:avLst>
              <a:gd name="adj" fmla="val 9758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276218"/>
            <a:ext cx="5985866" cy="6953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947" b="1" i="0">
                <a:solidFill>
                  <a:srgbClr val="2D404D"/>
                </a:solidFill>
                <a:latin typeface="EB Garamond"/>
              </a:rPr>
              <a:t>Control Flow vs</a:t>
            </a:r>
            <a:r>
              <a:rPr sz="3947" b="1" i="0">
                <a:solidFill>
                  <a:srgbClr val="127FBD"/>
                </a:solidFill>
                <a:latin typeface="EB Garamond"/>
              </a:rPr>
              <a:t>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1634389"/>
            <a:ext cx="3405399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19" b="1" i="0" dirty="0">
                <a:solidFill>
                  <a:srgbClr val="2D404D"/>
                </a:solidFill>
                <a:latin typeface="EB Garamond"/>
              </a:rPr>
              <a:t>Control Flow </a:t>
            </a:r>
            <a:r>
              <a:rPr sz="2819" b="1" i="0" dirty="0" err="1">
                <a:solidFill>
                  <a:srgbClr val="2D404D"/>
                </a:solidFill>
                <a:latin typeface="EB Garamond"/>
              </a:rPr>
              <a:t>pristup</a:t>
            </a:r>
            <a:endParaRPr sz="2819" b="1" i="0" dirty="0">
              <a:solidFill>
                <a:srgbClr val="2D404D"/>
              </a:solidFill>
              <a:latin typeface="EB Garamon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7110" y="2485665"/>
            <a:ext cx="4154022" cy="4858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157" b="1" i="0" dirty="0" err="1">
                <a:solidFill>
                  <a:srgbClr val="2D404D"/>
                </a:solidFill>
                <a:latin typeface="EB Garamond"/>
              </a:rPr>
              <a:t>Instrukcije</a:t>
            </a:r>
            <a:r>
              <a:rPr sz="315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3157" b="1" i="0" dirty="0" err="1">
                <a:solidFill>
                  <a:srgbClr val="2D404D"/>
                </a:solidFill>
                <a:latin typeface="EB Garamond"/>
              </a:rPr>
              <a:t>sekvenci</a:t>
            </a:r>
            <a:r>
              <a:rPr lang="en-US" sz="3157" b="1" i="0" dirty="0" err="1">
                <a:solidFill>
                  <a:srgbClr val="2D404D"/>
                </a:solidFill>
                <a:latin typeface="EB Garamond"/>
              </a:rPr>
              <a:t>ja</a:t>
            </a:r>
            <a:r>
              <a:rPr sz="3157" b="1" i="0" dirty="0" err="1">
                <a:solidFill>
                  <a:srgbClr val="2D404D"/>
                </a:solidFill>
                <a:latin typeface="EB Garamond"/>
              </a:rPr>
              <a:t>lno</a:t>
            </a:r>
            <a:endParaRPr sz="3157" b="1" i="0" dirty="0">
              <a:solidFill>
                <a:srgbClr val="2D404D"/>
              </a:solidFill>
              <a:latin typeface="EB Garamon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8243" y="1421124"/>
            <a:ext cx="2912047" cy="495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19" b="1" i="0">
                <a:solidFill>
                  <a:srgbClr val="2D404D"/>
                </a:solidFill>
                <a:latin typeface="EB Garamond"/>
              </a:rPr>
              <a:t>Data Flow pristup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5395" y="2272399"/>
            <a:ext cx="3664354" cy="9791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157" b="1" i="0" dirty="0" err="1">
                <a:solidFill>
                  <a:srgbClr val="2D404D"/>
                </a:solidFill>
                <a:latin typeface="EB Garamond"/>
              </a:rPr>
              <a:t>Paralelizam</a:t>
            </a:r>
            <a:r>
              <a:rPr sz="315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3157" b="1" i="0" dirty="0" err="1">
                <a:solidFill>
                  <a:srgbClr val="2D404D"/>
                </a:solidFill>
                <a:latin typeface="EB Garamond"/>
              </a:rPr>
              <a:t>kroz</a:t>
            </a:r>
            <a:r>
              <a:rPr sz="315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3157" b="1" i="0" dirty="0" err="1">
                <a:solidFill>
                  <a:srgbClr val="2D404D"/>
                </a:solidFill>
                <a:latin typeface="EB Garamond"/>
              </a:rPr>
              <a:t>tok</a:t>
            </a:r>
            <a:r>
              <a:rPr sz="315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3157" b="1" i="0" dirty="0" err="1">
                <a:solidFill>
                  <a:srgbClr val="2D404D"/>
                </a:solidFill>
                <a:latin typeface="EB Garamond"/>
              </a:rPr>
              <a:t>podataka</a:t>
            </a:r>
            <a:endParaRPr sz="3157" b="1" i="0" dirty="0">
              <a:solidFill>
                <a:srgbClr val="2D404D"/>
              </a:solidFill>
              <a:latin typeface="EB Garamon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4792" y="3809160"/>
            <a:ext cx="5638658" cy="12062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7936" indent="-197936" algn="l">
              <a:lnSpc>
                <a:spcPts val="3043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Instrukcije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izvršavaju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sekvencionalno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procesor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koristi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keš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memoriju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ubrzanje</a:t>
            </a:r>
            <a:r>
              <a:rPr sz="1173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173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97936" indent="-197936" algn="l">
              <a:lnSpc>
                <a:spcPts val="3043"/>
              </a:lnSpc>
              <a:spcBef>
                <a:spcPts val="59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Ograničen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nivo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paralelizma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kod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složenih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algoritama</a:t>
            </a:r>
            <a:r>
              <a:rPr sz="1173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173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8243" y="4022574"/>
            <a:ext cx="5638658" cy="15909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7936" indent="-197936" algn="l">
              <a:lnSpc>
                <a:spcPts val="3043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Operacije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izvršavaju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kada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podaci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spremni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paralelizam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kroz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tok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podataka</a:t>
            </a:r>
            <a:r>
              <a:rPr sz="1173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173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97936" indent="-197936" algn="l">
              <a:lnSpc>
                <a:spcPts val="3043"/>
              </a:lnSpc>
              <a:spcBef>
                <a:spcPts val="59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Eliminiše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dekodiranje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instrukcija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predikciju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grananja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out-of-order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logiku</a:t>
            </a:r>
            <a:endParaRPr sz="1173" b="0" i="0" dirty="0">
              <a:solidFill>
                <a:srgbClr val="003D66"/>
              </a:solidFill>
              <a:latin typeface="EB Garamond"/>
              <a:hlinkClick r:id="rId3" tooltip="Introduction to Dataflow Computing - GitHub Page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074985"/>
            <a:ext cx="3657600" cy="1602581"/>
          </a:xfrm>
          <a:prstGeom prst="roundRect">
            <a:avLst>
              <a:gd name="adj" fmla="val 9509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67200" y="1074985"/>
            <a:ext cx="3657600" cy="1602581"/>
          </a:xfrm>
          <a:prstGeom prst="roundRect">
            <a:avLst>
              <a:gd name="adj" fmla="val 9509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53399" y="1074985"/>
            <a:ext cx="3657600" cy="1602581"/>
          </a:xfrm>
          <a:prstGeom prst="roundRect">
            <a:avLst>
              <a:gd name="adj" fmla="val 9509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0990" y="190495"/>
            <a:ext cx="8047530" cy="752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79" b="1" i="0">
                <a:solidFill>
                  <a:srgbClr val="2D404D"/>
                </a:solidFill>
                <a:latin typeface="EB Garamond"/>
              </a:rPr>
              <a:t>Sekvencijalni</a:t>
            </a:r>
            <a:r>
              <a:rPr sz="4279" b="1" i="0">
                <a:solidFill>
                  <a:srgbClr val="127FBD"/>
                </a:solidFill>
                <a:latin typeface="EB Garamond"/>
              </a:rPr>
              <a:t> Prefix Scan na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9001" y="1265007"/>
            <a:ext cx="1221488" cy="7159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652" b="1" i="0" dirty="0">
                <a:solidFill>
                  <a:srgbClr val="2D404D"/>
                </a:solidFill>
                <a:latin typeface="EB Garamond"/>
              </a:rPr>
              <a:t>O</a:t>
            </a:r>
            <a:r>
              <a:rPr lang="en-US" sz="4652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4652" b="1" i="0" dirty="0">
                <a:solidFill>
                  <a:srgbClr val="2D404D"/>
                </a:solidFill>
                <a:latin typeface="EB Garamond"/>
              </a:rPr>
              <a:t>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9675" y="2055562"/>
            <a:ext cx="500137" cy="2709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61" b="0" i="0" dirty="0">
                <a:solidFill>
                  <a:srgbClr val="3F657F"/>
                </a:solidFill>
                <a:latin typeface="EB Garamond"/>
              </a:rPr>
              <a:t>Work</a:t>
            </a:r>
            <a:endParaRPr sz="1360" b="0" i="0" dirty="0">
              <a:solidFill>
                <a:srgbClr val="003D66"/>
              </a:solidFill>
              <a:latin typeface="EB Garamond"/>
              <a:hlinkClick r:id="rId2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5103" y="1265007"/>
            <a:ext cx="1221489" cy="71590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652" b="1" i="0" dirty="0">
                <a:solidFill>
                  <a:srgbClr val="2D404D"/>
                </a:solidFill>
                <a:latin typeface="EB Garamond"/>
              </a:rPr>
              <a:t>O</a:t>
            </a:r>
            <a:r>
              <a:rPr lang="en-US" sz="4652" b="1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4652" b="1" i="0" dirty="0">
                <a:solidFill>
                  <a:srgbClr val="2D404D"/>
                </a:solidFill>
                <a:latin typeface="EB Garamond"/>
              </a:rPr>
              <a:t>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0168" y="2055562"/>
            <a:ext cx="431208" cy="2709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61" b="0" i="0" dirty="0">
                <a:solidFill>
                  <a:srgbClr val="3F657F"/>
                </a:solidFill>
                <a:latin typeface="EB Garamond"/>
              </a:rPr>
              <a:t>Span</a:t>
            </a:r>
            <a:endParaRPr sz="1360" b="0" i="0" dirty="0">
              <a:solidFill>
                <a:srgbClr val="003D66"/>
              </a:solidFill>
              <a:latin typeface="EB Garamond"/>
              <a:hlinkClick r:id="rId2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27534" y="1222034"/>
            <a:ext cx="508681" cy="8191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652" b="1" i="0" dirty="0">
                <a:solidFill>
                  <a:srgbClr val="2D404D"/>
                </a:solidFill>
                <a:latin typeface="EB Garamond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3124" y="2030088"/>
            <a:ext cx="3297502" cy="270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61" b="0" i="0" dirty="0" err="1">
                <a:solidFill>
                  <a:srgbClr val="3F657F"/>
                </a:solidFill>
                <a:latin typeface="EB Garamond"/>
              </a:rPr>
              <a:t>dodatnih</a:t>
            </a:r>
            <a:r>
              <a:rPr sz="1761" b="0" i="0" dirty="0">
                <a:solidFill>
                  <a:srgbClr val="3F657F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3F657F"/>
                </a:solidFill>
                <a:latin typeface="EB Garamond"/>
              </a:rPr>
              <a:t>operacija</a:t>
            </a:r>
            <a:r>
              <a:rPr sz="1761" b="0" i="0" dirty="0">
                <a:solidFill>
                  <a:srgbClr val="3F657F"/>
                </a:solidFill>
                <a:latin typeface="EB Garamond"/>
              </a:rPr>
              <a:t> za N </a:t>
            </a:r>
            <a:r>
              <a:rPr sz="1761" b="0" i="0" dirty="0" err="1">
                <a:solidFill>
                  <a:srgbClr val="3F657F"/>
                </a:solidFill>
                <a:latin typeface="EB Garamond"/>
              </a:rPr>
              <a:t>elemenata</a:t>
            </a:r>
            <a:endParaRPr sz="1360" b="0" i="0" dirty="0">
              <a:solidFill>
                <a:srgbClr val="003D66"/>
              </a:solidFill>
              <a:latin typeface="EB Garamond"/>
              <a:hlinkClick r:id="rId3" tooltip="Parallel Prefix Sum – Scan - University of Texas at A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0990" y="2829896"/>
            <a:ext cx="11429714" cy="38249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9463" indent="-289463" algn="l">
              <a:lnSpc>
                <a:spcPts val="3330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Klasična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implementacija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koristi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for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petlju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koja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akumulira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sumu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od leva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desno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rekurzivnom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definicijom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yi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= yi-1 + xi </a:t>
            </a:r>
            <a:endParaRPr sz="1360" b="0" i="0" dirty="0">
              <a:solidFill>
                <a:srgbClr val="003D66"/>
              </a:solidFill>
              <a:latin typeface="EB Garamond"/>
              <a:hlinkClick r:id="rId3" tooltip="Parallel Prefix Sum – Scan - University of Texas at A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9463" indent="-289463" algn="l">
              <a:lnSpc>
                <a:spcPts val="3330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Svaka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iteracija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mora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čekati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rezultat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prethodne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iteracije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nemoguće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paralelizovati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direktno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zbog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zavisnosti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podataka</a:t>
            </a:r>
            <a:endParaRPr sz="2378" b="0" i="0" dirty="0">
              <a:solidFill>
                <a:srgbClr val="070B0D"/>
              </a:solidFill>
              <a:latin typeface="EB Garamond"/>
            </a:endParaRPr>
          </a:p>
          <a:p>
            <a:pPr marL="289463" indent="-289463" algn="l">
              <a:lnSpc>
                <a:spcPts val="3330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378" b="0" i="0" dirty="0">
                <a:solidFill>
                  <a:srgbClr val="070B0D"/>
                </a:solidFill>
                <a:latin typeface="EB Garamond"/>
              </a:rPr>
              <a:t>CPU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pristup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: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Petlje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prolaze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kroz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elemente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instrukcije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izvršavaju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sekvencionalno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ograničen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nivo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paralelizacije</a:t>
            </a:r>
            <a:endParaRPr sz="2378" b="0" i="0" dirty="0">
              <a:solidFill>
                <a:srgbClr val="070B0D"/>
              </a:solidFill>
              <a:latin typeface="EB Garamond"/>
            </a:endParaRPr>
          </a:p>
          <a:p>
            <a:pPr marL="289463" indent="-289463" algn="l">
              <a:lnSpc>
                <a:spcPts val="3330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Naivni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paralelni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pristup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gde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svaka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nit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računa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svaki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y element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sabiranjem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svih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potrebnih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x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elemenata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je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veoma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neefikasan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O(n²)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složenošću</a:t>
            </a:r>
            <a:endParaRPr sz="1360" b="0" i="0" dirty="0">
              <a:solidFill>
                <a:srgbClr val="003D66"/>
              </a:solidFill>
              <a:latin typeface="EB Garamond"/>
              <a:hlinkClick r:id="rId3" tooltip="Parallel Prefix Sum – Scan - University of Texas at A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2135385"/>
            <a:ext cx="3802409" cy="957262"/>
          </a:xfrm>
          <a:prstGeom prst="roundRect">
            <a:avLst>
              <a:gd name="adj" fmla="val 15920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83409" y="2135385"/>
            <a:ext cx="3802409" cy="957262"/>
          </a:xfrm>
          <a:prstGeom prst="roundRect">
            <a:avLst>
              <a:gd name="adj" fmla="val 15920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90619" y="0"/>
            <a:ext cx="3901380" cy="6858000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36309" y="825698"/>
            <a:ext cx="3810000" cy="1308943"/>
          </a:xfrm>
          <a:prstGeom prst="roundRect">
            <a:avLst>
              <a:gd name="adj" fmla="val 11642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0911" y="2267814"/>
            <a:ext cx="320135" cy="3733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36309" y="2774453"/>
            <a:ext cx="3810000" cy="1308943"/>
          </a:xfrm>
          <a:prstGeom prst="roundRect">
            <a:avLst>
              <a:gd name="adj" fmla="val 11642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80911" y="4216520"/>
            <a:ext cx="320135" cy="3733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36309" y="4723209"/>
            <a:ext cx="3810000" cy="1308943"/>
          </a:xfrm>
          <a:prstGeom prst="roundRect">
            <a:avLst>
              <a:gd name="adj" fmla="val 11642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792" y="270711"/>
            <a:ext cx="5972174" cy="11118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73" b="1" i="0">
                <a:solidFill>
                  <a:srgbClr val="2D404D"/>
                </a:solidFill>
                <a:latin typeface="EB Garamond"/>
              </a:rPr>
              <a:t>Paralelni Prefix Scan - Blelloch algoritam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792" y="1343735"/>
            <a:ext cx="6736090" cy="597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942" b="0" i="0" dirty="0" err="1">
                <a:solidFill>
                  <a:srgbClr val="070B0D"/>
                </a:solidFill>
                <a:latin typeface="EB Garamond"/>
              </a:rPr>
              <a:t>Algoritam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Ladner-Fischer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koristi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up-sweep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down-sweep faze za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paralelno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računanje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prefix sum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logaritamskom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dubinom</a:t>
            </a:r>
            <a:endParaRPr sz="1270" b="0" i="0" dirty="0">
              <a:solidFill>
                <a:srgbClr val="003D66"/>
              </a:solidFill>
              <a:latin typeface="EB Garamond"/>
              <a:hlinkClick r:id="rId3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109" y="2135332"/>
            <a:ext cx="907531" cy="6191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73" b="1" i="0">
                <a:solidFill>
                  <a:srgbClr val="2D404D"/>
                </a:solidFill>
                <a:latin typeface="EB Garamond"/>
              </a:rP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2711" y="2711282"/>
            <a:ext cx="466473" cy="2528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43" b="0" i="0" dirty="0">
                <a:solidFill>
                  <a:srgbClr val="2D404D"/>
                </a:solidFill>
                <a:latin typeface="EB Garamond"/>
              </a:rPr>
              <a:t>Work</a:t>
            </a:r>
            <a:endParaRPr sz="1270" b="0" i="0" dirty="0">
              <a:solidFill>
                <a:srgbClr val="003D66"/>
              </a:solidFill>
              <a:latin typeface="EB Garamond"/>
              <a:hlinkClick r:id="rId3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76569" y="2135332"/>
            <a:ext cx="1615637" cy="61910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73" b="1" i="0">
                <a:solidFill>
                  <a:srgbClr val="2D404D"/>
                </a:solidFill>
                <a:latin typeface="EB Garamond"/>
              </a:rPr>
              <a:t>O(log 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4011" y="2711282"/>
            <a:ext cx="400751" cy="25282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43" b="0" i="0" dirty="0">
                <a:solidFill>
                  <a:srgbClr val="2D404D"/>
                </a:solidFill>
                <a:latin typeface="EB Garamond"/>
              </a:rPr>
              <a:t>Span</a:t>
            </a:r>
            <a:endParaRPr sz="1270" b="0" i="0" dirty="0">
              <a:solidFill>
                <a:srgbClr val="003D66"/>
              </a:solidFill>
              <a:latin typeface="EB Garamond"/>
              <a:hlinkClick r:id="rId3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73724" y="903661"/>
            <a:ext cx="1334657" cy="4190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45" b="1" i="0">
                <a:solidFill>
                  <a:srgbClr val="3F657F"/>
                </a:solidFill>
                <a:latin typeface="EB Garamond"/>
              </a:rPr>
              <a:t>Up-Sweep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6784" y="1317542"/>
            <a:ext cx="3248539" cy="702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89" b="0" i="0">
                <a:solidFill>
                  <a:srgbClr val="3F657F"/>
                </a:solidFill>
                <a:latin typeface="EB Garamond"/>
              </a:rPr>
              <a:t>Paralelna konstrukcija binarnog stabla suma odozdo naviše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9686" y="2852368"/>
            <a:ext cx="1742733" cy="4190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45" b="1" i="0">
                <a:solidFill>
                  <a:srgbClr val="3F657F"/>
                </a:solidFill>
                <a:latin typeface="EB Garamond"/>
              </a:rPr>
              <a:t>Down-Sweep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7125" y="3266249"/>
            <a:ext cx="2967707" cy="702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89" b="0" i="0">
                <a:solidFill>
                  <a:srgbClr val="3F657F"/>
                </a:solidFill>
                <a:latin typeface="EB Garamond"/>
              </a:rPr>
              <a:t>Paralelni prolazak kroz stablo odozgo naniže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7186" y="4801075"/>
            <a:ext cx="1147733" cy="4190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345" b="1" i="0">
                <a:solidFill>
                  <a:srgbClr val="3F657F"/>
                </a:solidFill>
                <a:latin typeface="EB Garamond"/>
              </a:rPr>
              <a:t>Rezultat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5618" y="5214955"/>
            <a:ext cx="2750721" cy="702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89" b="0" i="0">
                <a:solidFill>
                  <a:srgbClr val="3F657F"/>
                </a:solidFill>
                <a:latin typeface="EB Garamond"/>
              </a:rPr>
              <a:t>Prefiksi za svaki element uz maksimalni paralelizam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792" y="3153440"/>
            <a:ext cx="7680827" cy="30145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445" indent="-228445" algn="l">
              <a:lnSpc>
                <a:spcPts val="2526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52" b="1" i="0" dirty="0">
                <a:solidFill>
                  <a:srgbClr val="3F657F"/>
                </a:solidFill>
                <a:latin typeface="EB Garamond"/>
              </a:rPr>
              <a:t>Up-Sweep </a:t>
            </a:r>
            <a:r>
              <a:rPr sz="2052" b="1" i="0" dirty="0" err="1">
                <a:solidFill>
                  <a:srgbClr val="3F657F"/>
                </a:solidFill>
                <a:latin typeface="EB Garamond"/>
              </a:rPr>
              <a:t>faza</a:t>
            </a:r>
            <a:r>
              <a:rPr sz="2052" b="1" i="0" dirty="0">
                <a:solidFill>
                  <a:srgbClr val="3F657F"/>
                </a:solidFill>
                <a:latin typeface="EB Garamond"/>
              </a:rPr>
              <a:t>: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Gradi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binarno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stablo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gde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koren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ima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sumu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opsega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svaki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čvor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ima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sumu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svog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pod-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opsega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, O(n) work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O(log n) span</a:t>
            </a:r>
            <a:endParaRPr sz="1270" b="0" i="0" dirty="0">
              <a:solidFill>
                <a:srgbClr val="003D66"/>
              </a:solidFill>
              <a:latin typeface="EB Garamond"/>
              <a:hlinkClick r:id="rId3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8445" indent="-228445" algn="l">
              <a:lnSpc>
                <a:spcPts val="2526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52" b="1" i="0" dirty="0">
                <a:solidFill>
                  <a:srgbClr val="3F657F"/>
                </a:solidFill>
                <a:latin typeface="EB Garamond"/>
              </a:rPr>
              <a:t>Down-Sweep </a:t>
            </a:r>
            <a:r>
              <a:rPr sz="2052" b="1" i="0" dirty="0" err="1">
                <a:solidFill>
                  <a:srgbClr val="3F657F"/>
                </a:solidFill>
                <a:latin typeface="EB Garamond"/>
              </a:rPr>
              <a:t>faza</a:t>
            </a:r>
            <a:r>
              <a:rPr sz="2052" b="1" i="0" dirty="0">
                <a:solidFill>
                  <a:srgbClr val="3F657F"/>
                </a:solidFill>
                <a:latin typeface="EB Garamond"/>
              </a:rPr>
              <a:t>: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Propušta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fromLeft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vrednosti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od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korena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(0) ka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listovima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levi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čvorovi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dobijaju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istu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vrednost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desni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dobijaju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fromLeft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+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suma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levog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deteta</a:t>
            </a:r>
            <a:r>
              <a:rPr sz="1270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270" b="0" i="0" dirty="0">
              <a:solidFill>
                <a:srgbClr val="003D66"/>
              </a:solidFill>
              <a:latin typeface="EB Garamond"/>
              <a:hlinkClick r:id="rId3" tooltip="Parallel Prefix Scan - Princeton University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8445" indent="-228445" algn="l">
              <a:lnSpc>
                <a:spcPts val="2526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Ključna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invarijanta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: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fromLeft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predstavlja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sumu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svih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elemenata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levo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od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opsega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čvora</a:t>
            </a:r>
            <a:endParaRPr sz="1942" b="0" i="0" dirty="0">
              <a:solidFill>
                <a:srgbClr val="070B0D"/>
              </a:solidFill>
              <a:latin typeface="EB Garamond"/>
            </a:endParaRPr>
          </a:p>
          <a:p>
            <a:pPr marL="228445" indent="-228445" algn="l">
              <a:lnSpc>
                <a:spcPts val="2526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Algoritam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omogućava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efikasnu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paralelizaciju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složenih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sekvencijalnih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računanja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pretvarajući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ih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paralelne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logaritamskom</a:t>
            </a:r>
            <a:r>
              <a:rPr sz="194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42" b="0" i="0" dirty="0" err="1">
                <a:solidFill>
                  <a:srgbClr val="070B0D"/>
                </a:solidFill>
                <a:latin typeface="EB Garamond"/>
              </a:rPr>
              <a:t>dubinom</a:t>
            </a:r>
            <a:endParaRPr sz="1270" b="0" i="0" dirty="0">
              <a:solidFill>
                <a:srgbClr val="003D66"/>
              </a:solidFill>
              <a:latin typeface="EB Garamond"/>
              <a:hlinkClick r:id="rId4" tooltip="Chapter 39. Parallel Prefix Sum (Scan) with CUDA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5847" cy="6857828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71013" y="478465"/>
            <a:ext cx="3889079" cy="1205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53" b="1" i="0">
                <a:solidFill>
                  <a:srgbClr val="2D404D"/>
                </a:solidFill>
                <a:latin typeface="EB Garamond"/>
              </a:rPr>
              <a:t>Maxeler</a:t>
            </a:r>
            <a:r>
              <a:rPr sz="3653" b="1" i="0">
                <a:solidFill>
                  <a:srgbClr val="127FBD"/>
                </a:solidFill>
                <a:latin typeface="EB Garamond"/>
              </a:rPr>
              <a:t> Data Flow arhitektura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1013" y="1689151"/>
            <a:ext cx="5745514" cy="42230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0649" indent="-240649" algn="l">
              <a:lnSpc>
                <a:spcPts val="2942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Struktura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Maxeler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aplikacije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: CPU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kod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upravlja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izvršavanjem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Kernel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definiše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Data Flow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logiku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Manager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povezuje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CPU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DFE (Data Flow Engine)</a:t>
            </a:r>
            <a:r>
              <a:rPr sz="1179" b="0" i="0" dirty="0">
                <a:solidFill>
                  <a:srgbClr val="2D404D"/>
                </a:solidFill>
                <a:latin typeface="EB Garamond"/>
              </a:rPr>
              <a:t> </a:t>
            </a:r>
            <a:endParaRPr sz="1179" b="0" i="0" dirty="0">
              <a:solidFill>
                <a:srgbClr val="2D404D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40649" indent="-240649" algn="l">
              <a:lnSpc>
                <a:spcPts val="2942"/>
              </a:lnSpc>
              <a:spcBef>
                <a:spcPts val="41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SLiC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(Simple Live CPU Interface)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generiše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komunikacioni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interfejs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između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CPU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FPGA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hardvera</a:t>
            </a:r>
            <a:endParaRPr sz="1179" b="0" i="0" dirty="0">
              <a:solidFill>
                <a:srgbClr val="2D404D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40649" indent="-240649" algn="l">
              <a:lnSpc>
                <a:spcPts val="2942"/>
              </a:lnSpc>
              <a:spcBef>
                <a:spcPts val="41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Podaci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strimuju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kroz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FPGA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kao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kontinuirani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tok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operacije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izvršavaju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fazama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pipeline-a, novi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podaci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stižu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svakom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taktu</a:t>
            </a:r>
            <a:endParaRPr sz="1179" b="0" i="0" dirty="0">
              <a:solidFill>
                <a:srgbClr val="2D404D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40649" indent="-240649" algn="l">
              <a:lnSpc>
                <a:spcPts val="2942"/>
              </a:lnSpc>
              <a:spcBef>
                <a:spcPts val="41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Rezultati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izlaze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bez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čekanja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završetka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kompletne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obrade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hardver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je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konstantno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aktivan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postižući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maksimalno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iskorišćenje</a:t>
            </a:r>
            <a:r>
              <a:rPr sz="202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28" b="0" i="0" dirty="0" err="1">
                <a:solidFill>
                  <a:srgbClr val="070B0D"/>
                </a:solidFill>
                <a:latin typeface="EB Garamond"/>
              </a:rPr>
              <a:t>resursa</a:t>
            </a:r>
            <a:endParaRPr sz="1179" b="0" i="0" dirty="0">
              <a:solidFill>
                <a:srgbClr val="2D404D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04792" y="1371565"/>
          <a:ext cx="5486262" cy="4114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495448"/>
            <a:ext cx="5486400" cy="1055340"/>
          </a:xfrm>
          <a:prstGeom prst="roundRect">
            <a:avLst>
              <a:gd name="adj" fmla="val 1444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6411" y="1625013"/>
            <a:ext cx="343025" cy="4000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4800" y="2099369"/>
            <a:ext cx="5486400" cy="1055340"/>
          </a:xfrm>
          <a:prstGeom prst="roundRect">
            <a:avLst>
              <a:gd name="adj" fmla="val 1444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6411" y="3228894"/>
            <a:ext cx="343025" cy="4000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4800" y="3703290"/>
            <a:ext cx="5486400" cy="1055340"/>
          </a:xfrm>
          <a:prstGeom prst="roundRect">
            <a:avLst>
              <a:gd name="adj" fmla="val 1444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6411" y="4832774"/>
            <a:ext cx="343025" cy="40001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5307210"/>
            <a:ext cx="5486400" cy="1055340"/>
          </a:xfrm>
          <a:prstGeom prst="roundRect">
            <a:avLst>
              <a:gd name="adj" fmla="val 14440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582066"/>
            <a:ext cx="2667000" cy="1754237"/>
          </a:xfrm>
          <a:prstGeom prst="roundRect">
            <a:avLst>
              <a:gd name="adj" fmla="val 8687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20200" y="582066"/>
            <a:ext cx="2667000" cy="1754237"/>
          </a:xfrm>
          <a:prstGeom prst="roundRect">
            <a:avLst>
              <a:gd name="adj" fmla="val 8687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4076" y="647832"/>
            <a:ext cx="747693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42" b="1" i="0">
                <a:solidFill>
                  <a:srgbClr val="3F657F"/>
                </a:solidFill>
                <a:latin typeface="EB Garamond"/>
              </a:rPr>
              <a:t>Faza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7602" y="1074512"/>
            <a:ext cx="2260642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7" b="0" i="0">
                <a:solidFill>
                  <a:srgbClr val="3F657F"/>
                </a:solidFill>
                <a:latin typeface="EB Garamond"/>
              </a:rPr>
              <a:t>Ulazni stream elemenata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4076" y="2251713"/>
            <a:ext cx="747693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42" b="1" i="0">
                <a:solidFill>
                  <a:srgbClr val="3F657F"/>
                </a:solidFill>
                <a:latin typeface="EB Garamond"/>
              </a:rPr>
              <a:t>Faza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9028" y="2678392"/>
            <a:ext cx="2317642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7" b="0" i="0">
                <a:solidFill>
                  <a:srgbClr val="3F657F"/>
                </a:solidFill>
                <a:latin typeface="EB Garamond"/>
              </a:rPr>
              <a:t>Paralelne parcijalne 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4076" y="3855593"/>
            <a:ext cx="747693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42" b="1" i="0">
                <a:solidFill>
                  <a:srgbClr val="3F657F"/>
                </a:solidFill>
                <a:latin typeface="EB Garamond"/>
              </a:rPr>
              <a:t>Faza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4403" y="4282273"/>
            <a:ext cx="3146891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7" b="0" i="0">
                <a:solidFill>
                  <a:srgbClr val="3F657F"/>
                </a:solidFill>
                <a:latin typeface="EB Garamond"/>
              </a:rPr>
              <a:t>Akumulacija u pipeline registrima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4076" y="5459474"/>
            <a:ext cx="747693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142" b="1" i="0">
                <a:solidFill>
                  <a:srgbClr val="3F657F"/>
                </a:solidFill>
                <a:latin typeface="EB Garamond"/>
              </a:rPr>
              <a:t>Faza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2469" y="5886153"/>
            <a:ext cx="2530758" cy="3238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707" b="0" i="0">
                <a:solidFill>
                  <a:srgbClr val="3F657F"/>
                </a:solidFill>
                <a:latin typeface="EB Garamond"/>
              </a:rPr>
              <a:t>Kontinuirani izlaz rezultata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639" y="0"/>
            <a:ext cx="4879208" cy="5524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157" b="1" i="0">
                <a:solidFill>
                  <a:srgbClr val="2D404D"/>
                </a:solidFill>
                <a:latin typeface="EB Garamond"/>
              </a:rPr>
              <a:t>Pipeline obrada</a:t>
            </a:r>
            <a:r>
              <a:rPr sz="3157" b="1" i="0">
                <a:solidFill>
                  <a:srgbClr val="127FBD"/>
                </a:solidFill>
                <a:latin typeface="EB Garamond"/>
              </a:rPr>
              <a:t> Prefix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939" y="985593"/>
            <a:ext cx="2160335" cy="824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537" b="1" i="0" dirty="0" err="1">
                <a:solidFill>
                  <a:srgbClr val="2D404D"/>
                </a:solidFill>
                <a:latin typeface="EB Garamond"/>
              </a:rPr>
              <a:t>Jedna</a:t>
            </a:r>
            <a:r>
              <a:rPr sz="253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537" b="1" i="0" dirty="0" err="1">
                <a:solidFill>
                  <a:srgbClr val="2D404D"/>
                </a:solidFill>
                <a:latin typeface="EB Garamond"/>
              </a:rPr>
              <a:t>operacija</a:t>
            </a:r>
            <a:r>
              <a:rPr sz="2537" b="1" i="0" dirty="0">
                <a:solidFill>
                  <a:srgbClr val="2D404D"/>
                </a:solidFill>
                <a:latin typeface="EB Garamond"/>
              </a:rPr>
              <a:t> po </a:t>
            </a:r>
            <a:r>
              <a:rPr sz="2537" b="1" i="0" dirty="0" err="1">
                <a:solidFill>
                  <a:srgbClr val="2D404D"/>
                </a:solidFill>
                <a:latin typeface="EB Garamond"/>
              </a:rPr>
              <a:t>taktu</a:t>
            </a:r>
            <a:endParaRPr sz="2537" b="1" i="0" dirty="0">
              <a:solidFill>
                <a:srgbClr val="2D404D"/>
              </a:solidFill>
              <a:latin typeface="EB Garamon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77445" y="823125"/>
            <a:ext cx="1951832" cy="12019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537" b="1" i="0" dirty="0" err="1">
                <a:solidFill>
                  <a:srgbClr val="2D404D"/>
                </a:solidFill>
                <a:latin typeface="EB Garamond"/>
              </a:rPr>
              <a:t>Konstantan</a:t>
            </a:r>
            <a:r>
              <a:rPr sz="253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537" b="1" i="0" dirty="0" err="1">
                <a:solidFill>
                  <a:srgbClr val="2D404D"/>
                </a:solidFill>
                <a:latin typeface="EB Garamond"/>
              </a:rPr>
              <a:t>protok</a:t>
            </a:r>
            <a:r>
              <a:rPr sz="253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537" b="1" i="0" dirty="0" err="1">
                <a:solidFill>
                  <a:srgbClr val="2D404D"/>
                </a:solidFill>
                <a:latin typeface="EB Garamond"/>
              </a:rPr>
              <a:t>nakon</a:t>
            </a:r>
            <a:r>
              <a:rPr sz="2537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537" b="1" i="0" dirty="0" err="1">
                <a:solidFill>
                  <a:srgbClr val="2D404D"/>
                </a:solidFill>
                <a:latin typeface="EB Garamond"/>
              </a:rPr>
              <a:t>punjenja</a:t>
            </a:r>
            <a:endParaRPr sz="2537" b="1" i="0" dirty="0">
              <a:solidFill>
                <a:srgbClr val="2D404D"/>
              </a:solidFill>
              <a:latin typeface="EB Garamon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639" y="2488641"/>
            <a:ext cx="5486262" cy="350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0855" indent="-220855" algn="l">
              <a:lnSpc>
                <a:spcPts val="2643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761" b="0" i="0" dirty="0">
                <a:solidFill>
                  <a:srgbClr val="070B0D"/>
                </a:solidFill>
                <a:latin typeface="EB Garamond"/>
              </a:rPr>
              <a:t>Niz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elemenata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šalje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kao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ulazni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stream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direktno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u FPGA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hardver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bez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skladištenja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eksternoj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memoriji</a:t>
            </a:r>
            <a:endParaRPr sz="1761" b="0" i="0" dirty="0">
              <a:solidFill>
                <a:srgbClr val="070B0D"/>
              </a:solidFill>
              <a:latin typeface="EB Garamond"/>
            </a:endParaRPr>
          </a:p>
          <a:p>
            <a:pPr marL="220855" indent="-220855" algn="l">
              <a:lnSpc>
                <a:spcPts val="2643"/>
              </a:lnSpc>
              <a:spcBef>
                <a:spcPts val="47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Svaki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element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prolazi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kroz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niz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registara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gde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izvršavaju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paralelne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operacije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sabiranja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prethodnim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parcijalnim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sumama</a:t>
            </a:r>
            <a:endParaRPr sz="1761" b="0" i="0" dirty="0">
              <a:solidFill>
                <a:srgbClr val="070B0D"/>
              </a:solidFill>
              <a:latin typeface="EB Garamond"/>
            </a:endParaRPr>
          </a:p>
          <a:p>
            <a:pPr marL="220855" indent="-220855" algn="l">
              <a:lnSpc>
                <a:spcPts val="2643"/>
              </a:lnSpc>
              <a:spcBef>
                <a:spcPts val="47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Funkcija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stream.offset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omogućava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korišćenje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prethodne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vrednosti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akumulatora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računanje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prefix sum</a:t>
            </a:r>
            <a:endParaRPr sz="1360" b="0" i="0" dirty="0">
              <a:solidFill>
                <a:srgbClr val="003D66"/>
              </a:solidFill>
              <a:latin typeface="EB Garamond"/>
              <a:hlinkClick r:id="rId3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0855" indent="-220855" algn="l">
              <a:lnSpc>
                <a:spcPts val="2643"/>
              </a:lnSpc>
              <a:spcBef>
                <a:spcPts val="47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Nakon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latencije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punjenja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pipeline-a od L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taktova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svaki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naredni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takt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proizvodi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jedan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rezultat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uz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maksimalnu</a:t>
            </a:r>
            <a:r>
              <a:rPr sz="17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761" b="0" i="0" dirty="0" err="1">
                <a:solidFill>
                  <a:srgbClr val="070B0D"/>
                </a:solidFill>
                <a:latin typeface="EB Garamond"/>
              </a:rPr>
              <a:t>propusnost</a:t>
            </a:r>
            <a:endParaRPr sz="1761" b="0" i="0" dirty="0">
              <a:solidFill>
                <a:srgbClr val="070B0D"/>
              </a:solidFill>
              <a:latin typeface="EB 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92" y="180970"/>
            <a:ext cx="7500005" cy="752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79" b="1" i="0" dirty="0" err="1">
                <a:solidFill>
                  <a:srgbClr val="2D404D"/>
                </a:solidFill>
                <a:latin typeface="EB Garamond"/>
              </a:rPr>
              <a:t>Maxeler</a:t>
            </a:r>
            <a:r>
              <a:rPr sz="4279" b="1" i="0" dirty="0">
                <a:solidFill>
                  <a:srgbClr val="127FBD"/>
                </a:solidFill>
                <a:latin typeface="EB Garamond"/>
              </a:rPr>
              <a:t> Kernel </a:t>
            </a:r>
            <a:r>
              <a:rPr sz="4279" b="1" i="0" dirty="0" err="1">
                <a:solidFill>
                  <a:srgbClr val="127FBD"/>
                </a:solidFill>
                <a:latin typeface="EB Garamond"/>
              </a:rPr>
              <a:t>implementacija</a:t>
            </a:r>
            <a:endParaRPr sz="4279" b="1" i="0" dirty="0">
              <a:solidFill>
                <a:srgbClr val="127FBD"/>
              </a:solidFill>
              <a:latin typeface="EB Garamon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792" y="1015428"/>
            <a:ext cx="10477237" cy="583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8954" indent="-258954" algn="l">
              <a:lnSpc>
                <a:spcPts val="3212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2" b="1" i="0" dirty="0">
                <a:solidFill>
                  <a:srgbClr val="3F657F"/>
                </a:solidFill>
                <a:latin typeface="EB Garamond"/>
              </a:rPr>
              <a:t>Kernel </a:t>
            </a:r>
            <a:r>
              <a:rPr sz="2512" b="1" i="0" dirty="0" err="1">
                <a:solidFill>
                  <a:srgbClr val="3F657F"/>
                </a:solidFill>
                <a:latin typeface="EB Garamond"/>
              </a:rPr>
              <a:t>struktura</a:t>
            </a:r>
            <a:r>
              <a:rPr sz="2512" b="1" i="0" dirty="0">
                <a:solidFill>
                  <a:srgbClr val="3F657F"/>
                </a:solidFill>
                <a:latin typeface="EB Garamond"/>
              </a:rPr>
              <a:t>:</a:t>
            </a:r>
            <a:br>
              <a:rPr dirty="0"/>
            </a:b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Deklaracija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ulaznih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streamova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definisanje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Data Flow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operacija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pomoću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DFEVar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promenljivih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specificiranje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izlaznih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streamova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tipovima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podataka</a:t>
            </a:r>
            <a:endParaRPr sz="2378" b="0" i="0" dirty="0">
              <a:solidFill>
                <a:srgbClr val="070B0D"/>
              </a:solidFill>
              <a:latin typeface="EB Garamond"/>
            </a:endParaRPr>
          </a:p>
          <a:p>
            <a:pPr marL="258954" indent="-258954" algn="l">
              <a:lnSpc>
                <a:spcPts val="3212"/>
              </a:lnSpc>
              <a:spcBef>
                <a:spcPts val="23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2" b="1" i="0" dirty="0">
                <a:solidFill>
                  <a:srgbClr val="3F657F"/>
                </a:solidFill>
                <a:latin typeface="EB Garamond"/>
              </a:rPr>
              <a:t>Prefix Scan </a:t>
            </a:r>
            <a:r>
              <a:rPr sz="2512" b="1" i="0" dirty="0" err="1">
                <a:solidFill>
                  <a:srgbClr val="3F657F"/>
                </a:solidFill>
                <a:latin typeface="EB Garamond"/>
              </a:rPr>
              <a:t>logika</a:t>
            </a:r>
            <a:r>
              <a:rPr sz="2512" b="1" i="0" dirty="0">
                <a:solidFill>
                  <a:srgbClr val="3F657F"/>
                </a:solidFill>
                <a:latin typeface="EB Garamond"/>
              </a:rPr>
              <a:t>:</a:t>
            </a:r>
            <a:br>
              <a:rPr dirty="0"/>
            </a:b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Čitanje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ulaznog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elementa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stream-a,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sabiranje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akumuliranom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vrednošću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prethodnog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takta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korišćenjem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stream.offset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()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funkcije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slanje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rezultata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izlazni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stream</a:t>
            </a:r>
          </a:p>
          <a:p>
            <a:pPr marL="258954" indent="-258954" algn="l">
              <a:lnSpc>
                <a:spcPts val="3212"/>
              </a:lnSpc>
              <a:spcBef>
                <a:spcPts val="23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2" b="1" i="0" dirty="0" err="1">
                <a:solidFill>
                  <a:srgbClr val="3F657F"/>
                </a:solidFill>
                <a:latin typeface="EB Garamond"/>
              </a:rPr>
              <a:t>Registarski</a:t>
            </a:r>
            <a:r>
              <a:rPr sz="2512" b="1" i="0" dirty="0">
                <a:solidFill>
                  <a:srgbClr val="3F657F"/>
                </a:solidFill>
                <a:latin typeface="EB Garamond"/>
              </a:rPr>
              <a:t> pipeline:</a:t>
            </a:r>
            <a:br>
              <a:rPr dirty="0"/>
            </a:b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Dodavanje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registara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između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operacija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povećava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clock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frekvenciju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kraće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fizičke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veze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omogućavaju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brže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taktovanje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FPGA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čipu</a:t>
            </a:r>
            <a:endParaRPr sz="2378" b="0" i="0" dirty="0">
              <a:solidFill>
                <a:srgbClr val="070B0D"/>
              </a:solidFill>
              <a:latin typeface="EB Garamond"/>
            </a:endParaRPr>
          </a:p>
          <a:p>
            <a:pPr marL="258954" indent="-258954" algn="l">
              <a:lnSpc>
                <a:spcPts val="3212"/>
              </a:lnSpc>
              <a:spcBef>
                <a:spcPts val="23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Stream.offset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(-1)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omogućava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pristup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vrednosti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prethodnog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takta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koja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je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smeštena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u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registar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pipeline-a,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čime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implementira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rekurzivna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78" b="0" i="0" dirty="0" err="1">
                <a:solidFill>
                  <a:srgbClr val="070B0D"/>
                </a:solidFill>
                <a:latin typeface="EB Garamond"/>
              </a:rPr>
              <a:t>zavisnost</a:t>
            </a:r>
            <a:r>
              <a:rPr sz="2378" b="0" i="0" dirty="0">
                <a:solidFill>
                  <a:srgbClr val="070B0D"/>
                </a:solidFill>
                <a:latin typeface="EB Garamond"/>
              </a:rPr>
              <a:t> prefix scan-a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292DA-B7FD-4DFB-F2B0-B48A9A36C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6F2CE7-1C45-6366-83D7-634CA2AB5CD8}"/>
              </a:ext>
            </a:extLst>
          </p:cNvPr>
          <p:cNvSpPr txBox="1"/>
          <p:nvPr/>
        </p:nvSpPr>
        <p:spPr>
          <a:xfrm>
            <a:off x="379220" y="351091"/>
            <a:ext cx="3716530" cy="6585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4279" b="1" dirty="0" err="1">
                <a:solidFill>
                  <a:srgbClr val="127FBD"/>
                </a:solidFill>
                <a:latin typeface="EB Garamond"/>
              </a:rPr>
              <a:t>I</a:t>
            </a:r>
            <a:r>
              <a:rPr sz="4279" b="1" i="0" dirty="0" err="1">
                <a:solidFill>
                  <a:srgbClr val="127FBD"/>
                </a:solidFill>
                <a:latin typeface="EB Garamond"/>
              </a:rPr>
              <a:t>mplementacija</a:t>
            </a:r>
            <a:endParaRPr sz="4279" b="1" i="0" dirty="0">
              <a:solidFill>
                <a:srgbClr val="127FBD"/>
              </a:solidFill>
              <a:latin typeface="EB Garamon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1A8D9-6EB8-A2B5-33AB-CAB57274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8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5847" y="0"/>
            <a:ext cx="6095847" cy="6857828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792" y="159688"/>
            <a:ext cx="4835155" cy="6572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9" b="1" i="0">
                <a:solidFill>
                  <a:srgbClr val="2D404D"/>
                </a:solidFill>
                <a:latin typeface="EB Garamond"/>
              </a:rPr>
              <a:t>Performanse i</a:t>
            </a:r>
            <a:r>
              <a:rPr sz="3709" b="1" i="0">
                <a:solidFill>
                  <a:srgbClr val="127FBD"/>
                </a:solidFill>
                <a:latin typeface="EB Garamond"/>
              </a:rPr>
              <a:t> ubrzanje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792" y="942058"/>
            <a:ext cx="5486262" cy="4669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0649" indent="-240649" algn="l">
              <a:lnSpc>
                <a:spcPts val="2989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61" b="0" i="0" dirty="0">
                <a:solidFill>
                  <a:srgbClr val="070B0D"/>
                </a:solidFill>
                <a:latin typeface="EB Garamond"/>
              </a:rPr>
              <a:t>FPGA </a:t>
            </a:r>
            <a:r>
              <a:rPr lang="en-US" sz="2061" b="0" i="0" dirty="0" err="1">
                <a:solidFill>
                  <a:srgbClr val="070B0D"/>
                </a:solidFill>
                <a:latin typeface="EB Garamond"/>
              </a:rPr>
              <a:t>imaju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10x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sporiji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clock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ali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kompenzuju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masivnim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paralelizmom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nivou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bita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, pipeline-a,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arhitekture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sistema</a:t>
            </a:r>
            <a:endParaRPr sz="906" b="0" i="0" dirty="0">
              <a:solidFill>
                <a:srgbClr val="003D66"/>
              </a:solidFill>
              <a:latin typeface="EB Garamond"/>
              <a:hlinkClick r:id="rId2" tooltip="Introduction to Dataflow Computing - GitHub Page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40649" indent="-240649" algn="l">
              <a:lnSpc>
                <a:spcPts val="2989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61" b="0" i="0" dirty="0">
                <a:solidFill>
                  <a:srgbClr val="070B0D"/>
                </a:solidFill>
                <a:latin typeface="EB Garamond"/>
              </a:rPr>
              <a:t>Prefix Scan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benefituje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od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konstantnog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protoka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podataka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kroz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pipeline bez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potrebe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čestim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pristupima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memoriji</a:t>
            </a:r>
            <a:endParaRPr sz="2061" b="0" i="0" dirty="0">
              <a:solidFill>
                <a:srgbClr val="070B0D"/>
              </a:solidFill>
              <a:latin typeface="EB Garamond"/>
            </a:endParaRPr>
          </a:p>
          <a:p>
            <a:pPr marL="240649" indent="-240649" algn="l">
              <a:lnSpc>
                <a:spcPts val="2989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Tipična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Maxeler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implementacija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postižu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propusnost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merenu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u TB/s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korišćenjem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on-chip SRAM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memorije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20TB/s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internim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bandwidth-om</a:t>
            </a:r>
            <a:endParaRPr sz="906" b="0" i="0" dirty="0">
              <a:solidFill>
                <a:srgbClr val="003D66"/>
              </a:solidFill>
              <a:latin typeface="EB Garamond"/>
              <a:hlinkClick r:id="rId2" tooltip="Introduction to Dataflow Computing - GitHub Page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40649" indent="-240649" algn="l">
              <a:lnSpc>
                <a:spcPts val="2989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Skalabilnost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se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održava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dodavanjem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više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DFE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jedinica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uz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skoro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linearno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povećanje</a:t>
            </a:r>
            <a:r>
              <a:rPr sz="2061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061" b="0" i="0" dirty="0" err="1">
                <a:solidFill>
                  <a:srgbClr val="070B0D"/>
                </a:solidFill>
                <a:latin typeface="EB Garamond"/>
              </a:rPr>
              <a:t>performansi</a:t>
            </a:r>
            <a:endParaRPr sz="906" b="0" i="0" dirty="0">
              <a:solidFill>
                <a:srgbClr val="003D66"/>
              </a:solidFill>
              <a:latin typeface="EB Garamond"/>
              <a:hlinkClick r:id="rId2" tooltip="Introduction to Dataflow Computing - GitHub Page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639" y="1714457"/>
          <a:ext cx="5486262" cy="3428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8090" y="987474"/>
            <a:ext cx="2815679" cy="1136749"/>
          </a:xfrm>
          <a:prstGeom prst="roundRect">
            <a:avLst>
              <a:gd name="adj" fmla="val 13406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166169" y="987474"/>
            <a:ext cx="2815679" cy="1136749"/>
          </a:xfrm>
          <a:prstGeom prst="roundRect">
            <a:avLst>
              <a:gd name="adj" fmla="val 13406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8085" y="131411"/>
            <a:ext cx="6302713" cy="752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85" b="1" i="0">
                <a:solidFill>
                  <a:srgbClr val="2D404D"/>
                </a:solidFill>
                <a:latin typeface="EB Garamond"/>
              </a:rPr>
              <a:t>Ograničenja i</a:t>
            </a:r>
            <a:r>
              <a:rPr sz="4285" b="1" i="0">
                <a:solidFill>
                  <a:srgbClr val="127FBD"/>
                </a:solidFill>
                <a:latin typeface="EB Garamond"/>
              </a:rPr>
              <a:t> kompromisi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495" y="1149370"/>
            <a:ext cx="1982638" cy="676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98" b="1" i="0" dirty="0" err="1">
                <a:solidFill>
                  <a:srgbClr val="2D404D"/>
                </a:solidFill>
                <a:latin typeface="EB Garamond"/>
              </a:rPr>
              <a:t>Dizajn</a:t>
            </a:r>
            <a:r>
              <a:rPr sz="2198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198" b="1" i="0" dirty="0" err="1">
                <a:solidFill>
                  <a:srgbClr val="2D404D"/>
                </a:solidFill>
                <a:latin typeface="EB Garamond"/>
              </a:rPr>
              <a:t>hardvera</a:t>
            </a:r>
            <a:r>
              <a:rPr sz="2198" b="1" i="0" dirty="0">
                <a:solidFill>
                  <a:srgbClr val="2D404D"/>
                </a:solidFill>
                <a:latin typeface="EB Garamond"/>
              </a:rPr>
              <a:t> </a:t>
            </a:r>
            <a:r>
              <a:rPr sz="2198" b="1" i="0" dirty="0" err="1">
                <a:solidFill>
                  <a:srgbClr val="2D404D"/>
                </a:solidFill>
                <a:latin typeface="EB Garamond"/>
              </a:rPr>
              <a:t>kompleksniji</a:t>
            </a:r>
            <a:r>
              <a:rPr sz="1360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360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7392" y="1149370"/>
            <a:ext cx="2373005" cy="6764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98" b="1" i="0" dirty="0">
                <a:solidFill>
                  <a:srgbClr val="2D404D"/>
                </a:solidFill>
                <a:latin typeface="EB Garamond"/>
              </a:rPr>
              <a:t>Manja </a:t>
            </a:r>
            <a:r>
              <a:rPr sz="2198" b="1" i="0" dirty="0" err="1">
                <a:solidFill>
                  <a:srgbClr val="2D404D"/>
                </a:solidFill>
                <a:latin typeface="EB Garamond"/>
              </a:rPr>
              <a:t>fleksibilnost</a:t>
            </a:r>
            <a:r>
              <a:rPr sz="2198" b="1" i="0" dirty="0">
                <a:solidFill>
                  <a:srgbClr val="2D404D"/>
                </a:solidFill>
                <a:latin typeface="EB Garamond"/>
              </a:rPr>
              <a:t> od CPU</a:t>
            </a:r>
            <a:r>
              <a:rPr sz="1360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360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085" y="2276566"/>
            <a:ext cx="5783465" cy="455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445" indent="-228445" algn="l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4" b="1" i="0">
                <a:solidFill>
                  <a:srgbClr val="3F657F"/>
                </a:solidFill>
                <a:latin typeface="EB Garamond"/>
              </a:rPr>
              <a:t>Algoritamska ograničenja:</a:t>
            </a:r>
            <a:br/>
            <a:r>
              <a:rPr sz="2380" b="0" i="0">
                <a:solidFill>
                  <a:srgbClr val="070B0D"/>
                </a:solidFill>
                <a:latin typeface="EB Garamond"/>
              </a:rPr>
              <a:t>Najbolji rezultati za streaming algoritme sa predvidljivim tokovima podataka, problemi sa dinamičkim grananjem i nepredvidljivim pristupima memoriji</a:t>
            </a:r>
          </a:p>
          <a:p>
            <a:pPr marL="228445" indent="-228445" algn="l">
              <a:lnSpc>
                <a:spcPts val="3215"/>
              </a:lnSpc>
              <a:spcBef>
                <a:spcPts val="3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4" b="1" i="0">
                <a:solidFill>
                  <a:srgbClr val="3F657F"/>
                </a:solidFill>
                <a:latin typeface="EB Garamond"/>
              </a:rPr>
              <a:t>Razvojni izazovi:</a:t>
            </a:r>
            <a:br/>
            <a:r>
              <a:rPr sz="2380" b="0" i="0">
                <a:solidFill>
                  <a:srgbClr val="070B0D"/>
                </a:solidFill>
                <a:latin typeface="EB Garamond"/>
              </a:rPr>
              <a:t>Duže vreme kompilacije FPGA dizajna, složenije debagovanje hardverskog pipeline-a, potrebno duboko razumevanje arhitekture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144" y="987449"/>
            <a:ext cx="5783465" cy="3315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445" indent="-228445" algn="l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4" b="1" i="0" dirty="0" err="1">
                <a:solidFill>
                  <a:srgbClr val="3F657F"/>
                </a:solidFill>
                <a:latin typeface="EB Garamond"/>
              </a:rPr>
              <a:t>Fleksibilnost</a:t>
            </a:r>
            <a:r>
              <a:rPr sz="2514" b="1" i="0" dirty="0">
                <a:solidFill>
                  <a:srgbClr val="3F657F"/>
                </a:solidFill>
                <a:latin typeface="EB Garamond"/>
              </a:rPr>
              <a:t> vs </a:t>
            </a:r>
            <a:r>
              <a:rPr sz="2514" b="1" i="0" dirty="0" err="1">
                <a:solidFill>
                  <a:srgbClr val="3F657F"/>
                </a:solidFill>
                <a:latin typeface="EB Garamond"/>
              </a:rPr>
              <a:t>performanse</a:t>
            </a:r>
            <a:r>
              <a:rPr sz="2514" b="1" i="0" dirty="0">
                <a:solidFill>
                  <a:srgbClr val="3F657F"/>
                </a:solidFill>
                <a:latin typeface="EB Garamond"/>
              </a:rPr>
              <a:t>:</a:t>
            </a:r>
            <a:br>
              <a:rPr dirty="0"/>
            </a:br>
            <a:r>
              <a:rPr sz="2380" b="0" i="0" dirty="0">
                <a:solidFill>
                  <a:srgbClr val="070B0D"/>
                </a:solidFill>
                <a:latin typeface="EB Garamond"/>
              </a:rPr>
              <a:t>CPU je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fleksibilniji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brze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iteracije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razvoj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, FPGA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daje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performanse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ali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zahteva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temeljnije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planiranje</a:t>
            </a:r>
            <a:endParaRPr sz="1360" b="0" i="0" dirty="0">
              <a:solidFill>
                <a:srgbClr val="003D66"/>
              </a:solidFill>
              <a:latin typeface="EB Garamond"/>
              <a:hlinkClick r:id="rId2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8445" indent="-228445" algn="l">
              <a:lnSpc>
                <a:spcPts val="3215"/>
              </a:lnSpc>
              <a:spcBef>
                <a:spcPts val="3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2514" b="1" i="0" dirty="0" err="1">
                <a:solidFill>
                  <a:srgbClr val="3F657F"/>
                </a:solidFill>
                <a:latin typeface="EB Garamond"/>
              </a:rPr>
              <a:t>Optimalni</a:t>
            </a:r>
            <a:r>
              <a:rPr sz="2514" b="1" i="0" dirty="0">
                <a:solidFill>
                  <a:srgbClr val="3F657F"/>
                </a:solidFill>
                <a:latin typeface="EB Garamond"/>
              </a:rPr>
              <a:t> </a:t>
            </a:r>
            <a:r>
              <a:rPr sz="2514" b="1" i="0" dirty="0" err="1">
                <a:solidFill>
                  <a:srgbClr val="3F657F"/>
                </a:solidFill>
                <a:latin typeface="EB Garamond"/>
              </a:rPr>
              <a:t>slučajevi</a:t>
            </a:r>
            <a:r>
              <a:rPr sz="2514" b="1" i="0" dirty="0">
                <a:solidFill>
                  <a:srgbClr val="3F657F"/>
                </a:solidFill>
                <a:latin typeface="EB Garamond"/>
              </a:rPr>
              <a:t> </a:t>
            </a:r>
            <a:r>
              <a:rPr sz="2514" b="1" i="0" dirty="0" err="1">
                <a:solidFill>
                  <a:srgbClr val="3F657F"/>
                </a:solidFill>
                <a:latin typeface="EB Garamond"/>
              </a:rPr>
              <a:t>upotrebe</a:t>
            </a:r>
            <a:r>
              <a:rPr sz="2514" b="1" i="0" dirty="0">
                <a:solidFill>
                  <a:srgbClr val="3F657F"/>
                </a:solidFill>
                <a:latin typeface="EB Garamond"/>
              </a:rPr>
              <a:t>:</a:t>
            </a:r>
            <a:br>
              <a:rPr dirty="0"/>
            </a:b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Aplikacije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visokim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zahtevima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propusnost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predvidljivi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tokovi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podataka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ponovljene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operacije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na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velikim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skupovima</a:t>
            </a:r>
            <a:r>
              <a:rPr sz="2380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2380" b="0" i="0" dirty="0" err="1">
                <a:solidFill>
                  <a:srgbClr val="070B0D"/>
                </a:solidFill>
                <a:latin typeface="EB Garamond"/>
              </a:rPr>
              <a:t>podataka</a:t>
            </a:r>
            <a:endParaRPr sz="2380" b="0" i="0" dirty="0">
              <a:solidFill>
                <a:srgbClr val="070B0D"/>
              </a:solidFill>
              <a:latin typeface="EB Garamo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4800" y="951309"/>
            <a:ext cx="3653879" cy="956667"/>
          </a:xfrm>
          <a:prstGeom prst="roundRect">
            <a:avLst>
              <a:gd name="adj" fmla="val 15930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87279" y="951309"/>
            <a:ext cx="3653879" cy="956667"/>
          </a:xfrm>
          <a:prstGeom prst="roundRect">
            <a:avLst>
              <a:gd name="adj" fmla="val 15930"/>
            </a:avLst>
          </a:prstGeom>
          <a:solidFill>
            <a:srgbClr val="D9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45809" y="0"/>
            <a:ext cx="4046190" cy="6858000"/>
          </a:xfrm>
          <a:prstGeom prst="rect">
            <a:avLst/>
          </a:prstGeom>
          <a:solidFill>
            <a:srgbClr val="F7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50609" y="1004887"/>
            <a:ext cx="3436590" cy="1074985"/>
          </a:xfrm>
          <a:prstGeom prst="roundRect">
            <a:avLst>
              <a:gd name="adj" fmla="val 14176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50609" y="2262633"/>
            <a:ext cx="3436590" cy="1074985"/>
          </a:xfrm>
          <a:prstGeom prst="roundRect">
            <a:avLst>
              <a:gd name="adj" fmla="val 14176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50609" y="3520380"/>
            <a:ext cx="3436590" cy="1074985"/>
          </a:xfrm>
          <a:prstGeom prst="roundRect">
            <a:avLst>
              <a:gd name="adj" fmla="val 14176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50609" y="4778126"/>
            <a:ext cx="3436590" cy="1074985"/>
          </a:xfrm>
          <a:prstGeom prst="roundRect">
            <a:avLst>
              <a:gd name="adj" fmla="val 14176"/>
            </a:avLst>
          </a:prstGeom>
          <a:solidFill>
            <a:srgbClr val="C7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792" y="245709"/>
            <a:ext cx="3838330" cy="6000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24" b="1" i="0">
                <a:solidFill>
                  <a:srgbClr val="2D404D"/>
                </a:solidFill>
                <a:latin typeface="EB Garamond"/>
              </a:rPr>
              <a:t>Zaključak i primene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4518" y="1021679"/>
            <a:ext cx="1394335" cy="533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76" b="1" i="0">
                <a:solidFill>
                  <a:srgbClr val="2D404D"/>
                </a:solidFill>
                <a:latin typeface="EB Garamond"/>
              </a:rPr>
              <a:t>10-100x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3070" y="1541969"/>
            <a:ext cx="577081" cy="1969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80" b="0" i="0" dirty="0" err="1">
                <a:solidFill>
                  <a:srgbClr val="3F657F"/>
                </a:solidFill>
                <a:latin typeface="EB Garamond"/>
              </a:rPr>
              <a:t>Ubrzanje</a:t>
            </a:r>
            <a:endParaRPr lang="en-US" sz="1088" dirty="0">
              <a:solidFill>
                <a:srgbClr val="003D66"/>
              </a:solidFill>
              <a:latin typeface="EB Garamon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3536" y="1021679"/>
            <a:ext cx="821064" cy="53338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76" b="1" i="0">
                <a:solidFill>
                  <a:srgbClr val="2D404D"/>
                </a:solidFill>
                <a:latin typeface="EB Garamond"/>
              </a:rPr>
              <a:t>TB/s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8163" y="1541969"/>
            <a:ext cx="751809" cy="1969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80" b="0" i="0" dirty="0" err="1">
                <a:solidFill>
                  <a:srgbClr val="3F657F"/>
                </a:solidFill>
                <a:latin typeface="EB Garamond"/>
              </a:rPr>
              <a:t>Propusnost</a:t>
            </a:r>
            <a:r>
              <a:rPr sz="1088" b="0" i="0" dirty="0">
                <a:solidFill>
                  <a:srgbClr val="003D66"/>
                </a:solidFill>
                <a:latin typeface="EB Garamond"/>
              </a:rPr>
              <a:t> </a:t>
            </a:r>
            <a:endParaRPr sz="1088" b="0" i="0" dirty="0">
              <a:solidFill>
                <a:srgbClr val="003D66"/>
              </a:solidFill>
              <a:latin typeface="EB Garamond"/>
              <a:hlinkClick r:id="rId2" tooltip="Introduction to Dataflow Computing - GitHub Page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78992" y="1178093"/>
            <a:ext cx="1028376" cy="3619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1" i="0">
                <a:solidFill>
                  <a:srgbClr val="2D404D"/>
                </a:solidFill>
                <a:latin typeface="EB Garamond"/>
              </a:rPr>
              <a:t>Finansije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8992" y="1599267"/>
            <a:ext cx="2750870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7" b="0" i="0">
                <a:solidFill>
                  <a:srgbClr val="3F657F"/>
                </a:solidFill>
                <a:latin typeface="EB Garamond"/>
              </a:rPr>
              <a:t>Paralelno procesiranje transakcija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8992" y="2435808"/>
            <a:ext cx="1765355" cy="3619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1" i="0">
                <a:solidFill>
                  <a:srgbClr val="2D404D"/>
                </a:solidFill>
                <a:latin typeface="EB Garamond"/>
              </a:rPr>
              <a:t>Bioinformatika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8992" y="2856982"/>
            <a:ext cx="2330441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7" b="0" i="0">
                <a:solidFill>
                  <a:srgbClr val="3F657F"/>
                </a:solidFill>
                <a:latin typeface="EB Garamond"/>
              </a:rPr>
              <a:t>Analiza genomskih sekvenci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8992" y="3693524"/>
            <a:ext cx="2087411" cy="3619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1" i="0">
                <a:solidFill>
                  <a:srgbClr val="2D404D"/>
                </a:solidFill>
                <a:latin typeface="EB Garamond"/>
              </a:rPr>
              <a:t>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8992" y="4114697"/>
            <a:ext cx="2286240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7" b="0" i="0">
                <a:solidFill>
                  <a:srgbClr val="3F657F"/>
                </a:solidFill>
                <a:latin typeface="EB Garamond"/>
              </a:rPr>
              <a:t>Training i inference modela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8992" y="4951239"/>
            <a:ext cx="1718177" cy="3619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29" b="1" i="0">
                <a:solidFill>
                  <a:srgbClr val="2D404D"/>
                </a:solidFill>
                <a:latin typeface="EB Garamond"/>
              </a:rPr>
              <a:t>Obrada signala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8992" y="5372412"/>
            <a:ext cx="2979315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7" b="0" i="0">
                <a:solidFill>
                  <a:srgbClr val="3F657F"/>
                </a:solidFill>
                <a:latin typeface="EB Garamond"/>
              </a:rPr>
              <a:t>Real-time filtriranje i transformacije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792" y="2029816"/>
            <a:ext cx="7536021" cy="3782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1570" indent="-231570" algn="l">
              <a:lnSpc>
                <a:spcPts val="2854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Ključne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lekcije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: Control Flow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paradigma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pogodna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opšte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namene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, Data Flow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izvlači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maksimalne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performanse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iz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predvidljivih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paralelnih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operacija</a:t>
            </a:r>
            <a:endParaRPr sz="1088" b="0" i="0" dirty="0">
              <a:solidFill>
                <a:srgbClr val="003D66"/>
              </a:solidFill>
              <a:latin typeface="EB Garamond"/>
              <a:hlinkClick r:id="rId3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31570" indent="-231570" algn="l">
              <a:lnSpc>
                <a:spcPts val="2854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02" b="0" i="0" dirty="0">
                <a:solidFill>
                  <a:srgbClr val="070B0D"/>
                </a:solidFill>
                <a:latin typeface="EB Garamond"/>
              </a:rPr>
              <a:t>Prefix Scan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primene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: Radix sort, quick sort, string comparison, stream compaction, polynomial evaluation,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konstrukcija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stabala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grafova</a:t>
            </a:r>
            <a:endParaRPr sz="1088" b="0" i="0" dirty="0">
              <a:solidFill>
                <a:srgbClr val="003D66"/>
              </a:solidFill>
              <a:latin typeface="EB Garamond"/>
              <a:hlinkClick r:id="rId4" tooltip="Chapter 39. Parallel Prefix Sum (Scan) with CUDA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31570" indent="-231570" algn="l">
              <a:lnSpc>
                <a:spcPts val="2854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Sledeći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koraci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: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Identifikovati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algoritme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pogodne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za streaming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obradu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naučiti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MaxJ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jezik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definisanje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kernela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eksperimentisati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sa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Maxeler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MaxCompiler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alatima</a:t>
            </a:r>
            <a:endParaRPr sz="1902" b="0" i="0" dirty="0">
              <a:solidFill>
                <a:srgbClr val="070B0D"/>
              </a:solidFill>
              <a:latin typeface="EB Garamond"/>
            </a:endParaRPr>
          </a:p>
          <a:p>
            <a:pPr marL="231570" indent="-231570" algn="l">
              <a:lnSpc>
                <a:spcPts val="2854"/>
              </a:lnSpc>
              <a:spcBef>
                <a:spcPts val="120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Citiranje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Michaela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Flynna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: "Sa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krajem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performance scaling-a za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pojedinačne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procesore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,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potreba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za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različitim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programskim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modelima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nikada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nije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bila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 </a:t>
            </a:r>
            <a:r>
              <a:rPr sz="1902" b="0" i="0" dirty="0" err="1">
                <a:solidFill>
                  <a:srgbClr val="070B0D"/>
                </a:solidFill>
                <a:latin typeface="EB Garamond"/>
              </a:rPr>
              <a:t>veća</a:t>
            </a:r>
            <a:r>
              <a:rPr sz="1902" b="0" i="0" dirty="0">
                <a:solidFill>
                  <a:srgbClr val="070B0D"/>
                </a:solidFill>
                <a:latin typeface="EB Garamond"/>
              </a:rPr>
              <a:t>"</a:t>
            </a:r>
            <a:endParaRPr sz="1088" b="0" i="0" dirty="0">
              <a:solidFill>
                <a:srgbClr val="003D66"/>
              </a:solidFill>
              <a:latin typeface="EB Garamond"/>
              <a:hlinkClick r:id="rId3" tooltip="05_data_flow_execution_model_maxeler_technology.pdf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1022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EB Garamond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Младен Чолаковић</cp:lastModifiedBy>
  <cp:revision>5</cp:revision>
  <dcterms:created xsi:type="dcterms:W3CDTF">2026-05-29T05:36:53Z</dcterms:created>
  <dcterms:modified xsi:type="dcterms:W3CDTF">2026-05-29T13:19:49Z</dcterms:modified>
  <cp:category/>
</cp:coreProperties>
</file>